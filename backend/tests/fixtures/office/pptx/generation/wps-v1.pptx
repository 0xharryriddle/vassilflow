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VFGEN:opening:opening-accent"/>
          <p:cNvSpPr/>
          <p:nvPr/>
        </p:nvSpPr>
        <p:spPr>
          <a:xfrm>
            <a:off x="853440" y="6172200"/>
            <a:ext cx="3048000" cy="8229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VFGEN:opening:opening-title"/>
          <p:cNvSpPr>
            <a:spLocks noGrp="1"/>
          </p:cNvSpPr>
          <p:nvPr>
            <p:ph type="title"/>
          </p:nvPr>
        </p:nvSpPr>
        <p:spPr>
          <a:xfrm>
            <a:off x="1219200" y="2125980"/>
            <a:ext cx="9753599" cy="1371600"/>
          </a:xfrm>
        </p:spPr>
        <p:txBody>
          <a:bodyPr wrap="square" lIns="54864" tIns="27432" rIns="54864" bIns="27432" anchor="ctr"/>
          <a:lstStyle/>
          <a:p>
            <a:pPr algn="ctr">
              <a:lnSpc>
                <a:spcPct val="112000"/>
              </a:lnSpc>
              <a:spcAft>
                <a:spcPts val="1000"/>
              </a:spcAft>
            </a:pPr>
            <a:r>
              <a:rPr sz="4800" b="1">
                <a:solidFill>
                  <a:srgbClr val="111111"/>
                </a:solidFill>
                <a:latin typeface="Arial" panose="020B0604020202020204"/>
              </a:rPr>
              <a:t>Native Generation Corpus</a:t>
            </a:r>
            <a:endParaRPr sz="4800" b="1">
              <a:solidFill>
                <a:srgbClr val="111111"/>
              </a:solidFill>
              <a:latin typeface="Arial" panose="020B0604020202020204"/>
            </a:endParaRPr>
          </a:p>
        </p:txBody>
      </p:sp>
      <p:sp>
        <p:nvSpPr>
          <p:cNvPr id="4" name="VFGEN:opening:opening-subtitle"/>
          <p:cNvSpPr txBox="1"/>
          <p:nvPr/>
        </p:nvSpPr>
        <p:spPr>
          <a:xfrm>
            <a:off x="1950720" y="3771900"/>
            <a:ext cx="8290559" cy="8229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1000"/>
              </a:spcAft>
            </a:pPr>
            <a:r>
              <a:rPr sz="2500" b="0">
                <a:solidFill>
                  <a:srgbClr val="111111"/>
                </a:solidFill>
                <a:latin typeface="Arial" panose="020B0604020202020204"/>
              </a:rPr>
              <a:t>Editable objects across native producers</a:t>
            </a:r>
            <a:endParaRPr sz="2500" b="0">
              <a:solidFill>
                <a:srgbClr val="111111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VFGEN:summary:summary-mark"/>
          <p:cNvSpPr/>
          <p:nvPr/>
        </p:nvSpPr>
        <p:spPr>
          <a:xfrm>
            <a:off x="10728959" y="274320"/>
            <a:ext cx="975360" cy="68580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VFGEN:summary:summary-title"/>
          <p:cNvSpPr>
            <a:spLocks noGrp="1"/>
          </p:cNvSpPr>
          <p:nvPr>
            <p:ph type="title"/>
          </p:nvPr>
        </p:nvSpPr>
        <p:spPr>
          <a:xfrm>
            <a:off x="731520" y="411480"/>
            <a:ext cx="10728959" cy="960120"/>
          </a:xfrm>
        </p:spPr>
        <p:txBody>
          <a:bodyPr wrap="square" lIns="54864" tIns="27432" rIns="54864" bIns="27432" anchor="ctr"/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4800" b="1">
                <a:solidFill>
                  <a:srgbClr val="111111"/>
                </a:solidFill>
                <a:latin typeface="Arial" panose="020B0604020202020204"/>
              </a:rPr>
              <a:t>Semantic content</a:t>
            </a:r>
            <a:endParaRPr sz="4800" b="1">
              <a:solidFill>
                <a:srgbClr val="111111"/>
              </a:solidFill>
              <a:latin typeface="Arial" panose="020B0604020202020204"/>
            </a:endParaRPr>
          </a:p>
        </p:txBody>
      </p:sp>
      <p:sp>
        <p:nvSpPr>
          <p:cNvPr id="4" name="VFGEN:summary:summary-content"/>
          <p:cNvSpPr txBox="1"/>
          <p:nvPr/>
        </p:nvSpPr>
        <p:spPr>
          <a:xfrm>
            <a:off x="975360" y="1714500"/>
            <a:ext cx="10241279" cy="42519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  <a:buChar char="•"/>
            </a:pPr>
            <a:r>
              <a:rPr sz="2400" b="0">
                <a:solidFill>
                  <a:srgbClr val="111111"/>
                </a:solidFill>
                <a:latin typeface="Georgia" panose="02040502050405020303"/>
              </a:rPr>
              <a:t>Stable intent IDs map to authored object paths</a:t>
            </a:r>
            <a:endParaRPr sz="2400" b="0">
              <a:solidFill>
                <a:srgbClr val="111111"/>
              </a:solidFill>
              <a:latin typeface="Georgia" panose="02040502050405020303"/>
            </a:endParaRPr>
          </a:p>
          <a:p>
            <a:pPr algn="l">
              <a:lnSpc>
                <a:spcPct val="112000"/>
              </a:lnSpc>
              <a:spcAft>
                <a:spcPts val="1000"/>
              </a:spcAft>
              <a:buChar char="•"/>
            </a:pPr>
            <a:r>
              <a:rPr sz="2400" b="0">
                <a:solidFill>
                  <a:srgbClr val="111111"/>
                </a:solidFill>
                <a:latin typeface="Georgia" panose="02040502050405020303"/>
              </a:rPr>
              <a:t>Native text remains independently editable</a:t>
            </a:r>
            <a:endParaRPr sz="2400" b="0">
              <a:solidFill>
                <a:srgbClr val="111111"/>
              </a:solidFill>
              <a:latin typeface="Georgia" panose="02040502050405020303"/>
            </a:endParaRPr>
          </a:p>
          <a:p>
            <a:pPr algn="l">
              <a:lnSpc>
                <a:spcPct val="112000"/>
              </a:lnSpc>
              <a:spcAft>
                <a:spcPts val="1000"/>
              </a:spcAft>
              <a:buChar char="•"/>
            </a:pPr>
            <a:r>
              <a:rPr sz="2400" b="0">
                <a:solidFill>
                  <a:srgbClr val="111111"/>
                </a:solidFill>
                <a:latin typeface="Georgia" panose="02040502050405020303"/>
              </a:rPr>
              <a:t>Visual evidence remains bound to one artifact</a:t>
            </a:r>
            <a:endParaRPr sz="2400" b="0">
              <a:solidFill>
                <a:srgbClr val="111111"/>
              </a:solidFill>
              <a:latin typeface="Georgia" panose="02040502050405020303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VFGEN:evidence:evidence-title"/>
          <p:cNvSpPr>
            <a:spLocks noGrp="1"/>
          </p:cNvSpPr>
          <p:nvPr>
            <p:ph type="title"/>
          </p:nvPr>
        </p:nvSpPr>
        <p:spPr>
          <a:xfrm>
            <a:off x="731520" y="411480"/>
            <a:ext cx="10728959" cy="960120"/>
          </a:xfrm>
        </p:spPr>
        <p:txBody>
          <a:bodyPr wrap="square" lIns="54864" tIns="27432" rIns="54864" bIns="27432" anchor="ctr"/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4800" b="1">
                <a:solidFill>
                  <a:srgbClr val="111111"/>
                </a:solidFill>
                <a:latin typeface="Arial" panose="020B0604020202020204"/>
              </a:rPr>
              <a:t>Evidence and interpretation</a:t>
            </a:r>
            <a:endParaRPr sz="4800" b="1">
              <a:solidFill>
                <a:srgbClr val="111111"/>
              </a:solidFill>
              <a:latin typeface="Arial" panose="020B0604020202020204"/>
            </a:endParaRPr>
          </a:p>
        </p:txBody>
      </p:sp>
      <p:pic>
        <p:nvPicPr>
          <p:cNvPr id="3" name="VFGEN:evidence:evidence-image" descr="Three colored evidence bands crossed by a white diagonal" title="Three colored evidence bands crossed by a white diagonal"/>
          <p:cNvPicPr>
            <a:picLocks noChangeAspect="1"/>
          </p:cNvPicPr>
          <p:nvPr/>
        </p:nvPicPr>
        <p:blipFill>
          <a:blip r:embed="rId1"/>
          <a:srcRect l="16129" r="16129"/>
          <a:stretch>
            <a:fillRect/>
          </a:stretch>
        </p:blipFill>
        <p:spPr>
          <a:xfrm>
            <a:off x="731520" y="1714500"/>
            <a:ext cx="5120640" cy="4251960"/>
          </a:xfrm>
          <a:prstGeom prst="rect">
            <a:avLst/>
          </a:prstGeom>
        </p:spPr>
      </p:pic>
      <p:sp>
        <p:nvSpPr>
          <p:cNvPr id="4" name="VFGEN:evidence:evidence-notes"/>
          <p:cNvSpPr txBox="1"/>
          <p:nvPr/>
        </p:nvSpPr>
        <p:spPr>
          <a:xfrm>
            <a:off x="6339839" y="1714500"/>
            <a:ext cx="5120640" cy="42519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990"/>
              </a:spcAft>
              <a:buChar char="•"/>
            </a:pPr>
            <a:r>
              <a:rPr sz="2200" b="0">
                <a:solidFill>
                  <a:srgbClr val="111111"/>
                </a:solidFill>
                <a:latin typeface="Georgia" panose="02040502050405020303"/>
              </a:rPr>
              <a:t>The image is embedded, not linked</a:t>
            </a:r>
            <a:endParaRPr sz="2200" b="0">
              <a:solidFill>
                <a:srgbClr val="111111"/>
              </a:solidFill>
              <a:latin typeface="Georgia" panose="02040502050405020303"/>
            </a:endParaRPr>
          </a:p>
          <a:p>
            <a:pPr algn="l">
              <a:lnSpc>
                <a:spcPct val="112000"/>
              </a:lnSpc>
              <a:spcAft>
                <a:spcPts val="990"/>
              </a:spcAft>
              <a:buChar char="•"/>
            </a:pPr>
            <a:r>
              <a:rPr sz="2200" b="0">
                <a:solidFill>
                  <a:srgbClr val="111111"/>
                </a:solidFill>
                <a:latin typeface="Georgia" panose="02040502050405020303"/>
              </a:rPr>
              <a:t>The crop is compiler-owned and deterministic</a:t>
            </a:r>
            <a:endParaRPr sz="2200" b="0">
              <a:solidFill>
                <a:srgbClr val="111111"/>
              </a:solidFill>
              <a:latin typeface="Georgia" panose="02040502050405020303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VFGEN:detail:detail-title"/>
          <p:cNvSpPr>
            <a:spLocks noGrp="1"/>
          </p:cNvSpPr>
          <p:nvPr>
            <p:ph type="title"/>
          </p:nvPr>
        </p:nvSpPr>
        <p:spPr>
          <a:xfrm>
            <a:off x="731520" y="411480"/>
            <a:ext cx="10728959" cy="960120"/>
          </a:xfrm>
        </p:spPr>
        <p:txBody>
          <a:bodyPr wrap="square" lIns="54864" tIns="27432" rIns="54864" bIns="27432" anchor="ctr"/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4800" b="1">
                <a:solidFill>
                  <a:srgbClr val="111111"/>
                </a:solidFill>
                <a:latin typeface="Arial" panose="020B0604020202020204"/>
              </a:rPr>
              <a:t>Contained visual evidence</a:t>
            </a:r>
            <a:endParaRPr sz="4800" b="1">
              <a:solidFill>
                <a:srgbClr val="111111"/>
              </a:solidFill>
              <a:latin typeface="Arial" panose="020B0604020202020204"/>
            </a:endParaRPr>
          </a:p>
        </p:txBody>
      </p:sp>
      <p:pic>
        <p:nvPicPr>
          <p:cNvPr id="3" name="VFGEN:detail:detail-image" descr="Complete three-band corpus image with its dark border visible" title="Complete three-band corpus image with its dark border visibl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83080"/>
            <a:ext cx="7071359" cy="3977639"/>
          </a:xfrm>
          <a:prstGeom prst="rect">
            <a:avLst/>
          </a:prstGeom>
        </p:spPr>
      </p:pic>
      <p:sp>
        <p:nvSpPr>
          <p:cNvPr id="4" name="VFGEN:detail:detail-caption"/>
          <p:cNvSpPr txBox="1"/>
          <p:nvPr/>
        </p:nvSpPr>
        <p:spPr>
          <a:xfrm>
            <a:off x="8290559" y="1645920"/>
            <a:ext cx="3169920" cy="42519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855"/>
              </a:spcAft>
            </a:pPr>
            <a:r>
              <a:rPr sz="1900" b="0">
                <a:solidFill>
                  <a:srgbClr val="111111"/>
                </a:solidFill>
                <a:latin typeface="Georgia" panose="02040502050405020303"/>
              </a:rPr>
              <a:t>Contain preserves the complete source image and its border.</a:t>
            </a:r>
            <a:endParaRPr sz="1900" b="0">
              <a:solidFill>
                <a:srgbClr val="111111"/>
              </a:solidFill>
              <a:latin typeface="Georgia" panose="02040502050405020303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VFGEN:closing:closing-mark"/>
          <p:cNvSpPr/>
          <p:nvPr/>
        </p:nvSpPr>
        <p:spPr>
          <a:xfrm>
            <a:off x="243840" y="5623560"/>
            <a:ext cx="1341120" cy="102870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VFGEN:closing:closing-title"/>
          <p:cNvSpPr>
            <a:spLocks noGrp="1"/>
          </p:cNvSpPr>
          <p:nvPr>
            <p:ph type="title"/>
          </p:nvPr>
        </p:nvSpPr>
        <p:spPr>
          <a:xfrm>
            <a:off x="1219200" y="2331720"/>
            <a:ext cx="9753599" cy="1234440"/>
          </a:xfrm>
        </p:spPr>
        <p:txBody>
          <a:bodyPr wrap="square" lIns="54864" tIns="27432" rIns="54864" bIns="27432" anchor="ctr"/>
          <a:lstStyle/>
          <a:p>
            <a:pPr algn="ctr">
              <a:lnSpc>
                <a:spcPct val="112000"/>
              </a:lnSpc>
              <a:spcAft>
                <a:spcPts val="1000"/>
              </a:spcAft>
            </a:pPr>
            <a:r>
              <a:rPr sz="4800" b="1">
                <a:solidFill>
                  <a:srgbClr val="111111"/>
                </a:solidFill>
                <a:latin typeface="Arial" panose="020B0604020202020204"/>
              </a:rPr>
              <a:t>Native generation verified</a:t>
            </a:r>
            <a:endParaRPr sz="4800" b="1">
              <a:solidFill>
                <a:srgbClr val="111111"/>
              </a:solidFill>
              <a:latin typeface="Arial" panose="020B0604020202020204"/>
            </a:endParaRPr>
          </a:p>
        </p:txBody>
      </p:sp>
      <p:sp>
        <p:nvSpPr>
          <p:cNvPr id="4" name="VFGEN:closing:closing-subtitle"/>
          <p:cNvSpPr txBox="1"/>
          <p:nvPr/>
        </p:nvSpPr>
        <p:spPr>
          <a:xfrm>
            <a:off x="2194560" y="3840480"/>
            <a:ext cx="7802879" cy="75438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1000"/>
              </a:spcAft>
            </a:pPr>
            <a:r>
              <a:rPr sz="2500" b="0">
                <a:solidFill>
                  <a:srgbClr val="111111"/>
                </a:solidFill>
                <a:latin typeface="Arial" panose="020B0604020202020204"/>
              </a:rPr>
              <a:t>Inspect, render, review, then deliver</a:t>
            </a:r>
            <a:endParaRPr sz="2500" b="0">
              <a:solidFill>
                <a:srgbClr val="111111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464</Words>
  <Application>WPS Presentation</Application>
  <PresentationFormat>On-screen Show (4:3)</PresentationFormat>
  <Paragraphs>23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2" baseType="lpstr">
      <vt:lpstr>Arial</vt:lpstr>
      <vt:lpstr>SimSun</vt:lpstr>
      <vt:lpstr>Wingdings</vt:lpstr>
      <vt:lpstr>Arial</vt:lpstr>
      <vt:lpstr>Georgia</vt:lpstr>
      <vt:lpstr>Calibri</vt:lpstr>
      <vt:lpstr>Office Theme</vt:lpstr>
      <vt:lpstr>Native Generation Corpus</vt:lpstr>
      <vt:lpstr>Semantic content</vt:lpstr>
      <vt:lpstr>Evidence and interpretation</vt:lpstr>
      <vt:lpstr>Contained visual evidence</vt:lpstr>
      <vt:lpstr>Native generation verified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Native Generation Corpus</dc:title>
  <dc:creator>VassilFlow</dc:creator>
  <dc:description>vassilflow-native-pptx v1</dc:description>
  <dc:subject>Editable presentation generated by VassilFlow</dc:subject>
  <cp:lastModifiedBy>Administrator</cp:lastModifiedBy>
  <cp:revision>2</cp:revision>
  <dcterms:created xsi:type="dcterms:W3CDTF">2000-01-01T00:00:00Z</dcterms:created>
  <dcterms:modified xsi:type="dcterms:W3CDTF">2026-07-16T23:15:44Z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3EB06DA929074008A04202027D9CDF3B_13</vt:lpwstr>
  </property>
  <property fmtid="{D5CDD505-2E9C-101B-9397-08002B2CF9AE}" pid="3" name="KSOProductBuildVer">
    <vt:lpwstr>1033-12.1.0.26886</vt:lpwstr>
  </property>
</Properties>
</file>
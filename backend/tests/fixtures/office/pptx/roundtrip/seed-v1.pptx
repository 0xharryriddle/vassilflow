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Run and paragraph preservation</a:t>
            </a:r>
          </a:p>
        </p:txBody>
      </p:sp>
      <p:sp>
        <p:nvSpPr>
          <p:cNvPr id="3" name="VF_RT_SPLIT_RUN"/>
          <p:cNvSpPr txBox="1"/>
          <p:nvPr/>
        </p:nvSpPr>
        <p:spPr>
          <a:xfrm>
            <a:off x="731520" y="132588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02B3A"/>
                </a:solidFill>
                <a:latin typeface="Aptos"/>
              </a:rPr>
              <a:t>Alpha</a:t>
            </a:r>
            <a:r>
              <a:rPr sz="2000" i="1">
                <a:solidFill>
                  <a:srgbClr val="107C71"/>
                </a:solidFill>
                <a:latin typeface="Georgia"/>
              </a:rPr>
              <a:t>Beta</a:t>
            </a:r>
          </a:p>
        </p:txBody>
      </p:sp>
      <p:sp>
        <p:nvSpPr>
          <p:cNvPr id="4" name="VF_RT_PARAGRAPHS"/>
          <p:cNvSpPr txBox="1"/>
          <p:nvPr/>
        </p:nvSpPr>
        <p:spPr>
          <a:xfrm>
            <a:off x="731520" y="26517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Aptos"/>
              </a:rPr>
              <a:t>Left paragraph</a:t>
            </a:r>
          </a:p>
          <a:p>
            <a:pPr algn="ctr">
              <a:spcAft>
                <a:spcPts val="800"/>
              </a:spcAft>
            </a:pPr>
            <a:r>
              <a:rPr sz="2000">
                <a:latin typeface="Aptos"/>
              </a:rPr>
              <a:t>Centered paragraph</a:t>
            </a:r>
          </a:p>
          <a:p>
            <a:pPr algn="r">
              <a:spcAft>
                <a:spcPts val="800"/>
              </a:spcAft>
            </a:pPr>
            <a:r>
              <a:rPr sz="1600">
                <a:latin typeface="Aptos"/>
              </a:rPr>
              <a:t>Right paragraph</a:t>
            </a:r>
          </a:p>
        </p:txBody>
      </p:sp>
      <p:sp>
        <p:nvSpPr>
          <p:cNvPr id="5" name="VF_RT_EDIT_SENTINEL"/>
          <p:cNvSpPr txBox="1"/>
          <p:nvPr/>
        </p:nvSpPr>
        <p:spPr>
          <a:xfrm>
            <a:off x="6400800" y="1325880"/>
            <a:ext cx="4754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>
                <a:latin typeface="Aptos"/>
              </a:rPr>
              <a:t>Final native round-trip sentinel</a:t>
            </a:r>
          </a:p>
        </p:txBody>
      </p:sp>
      <p:sp>
        <p:nvSpPr>
          <p:cNvPr id="6" name="VF_RT_STYLE"/>
          <p:cNvSpPr/>
          <p:nvPr/>
        </p:nvSpPr>
        <p:spPr>
          <a:xfrm>
            <a:off x="6400800" y="2743200"/>
            <a:ext cx="4114800" cy="1828800"/>
          </a:xfrm>
          <a:prstGeom prst="roundRect">
            <a:avLst/>
          </a:prstGeom>
          <a:solidFill>
            <a:srgbClr val="336699"/>
          </a:solidFill>
          <a:ln w="31750">
            <a:solidFill>
              <a:srgbClr val="E04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Direct fill and line</a:t>
            </a:r>
          </a:p>
        </p:txBody>
      </p:sp>
      <p:sp>
        <p:nvSpPr>
          <p:cNvPr id="7" name="VF_RT_GRADIENT"/>
          <p:cNvSpPr/>
          <p:nvPr/>
        </p:nvSpPr>
        <p:spPr>
          <a:xfrm>
            <a:off x="6400800" y="4892040"/>
            <a:ext cx="4114800" cy="1143000"/>
          </a:xfrm>
          <a:prstGeom prst="roundRect">
            <a:avLst/>
          </a:prstGeom>
          <a:gradFill rotWithShape="1">
            <a:gsLst>
              <a:gs pos="0">
                <a:srgbClr val="203864"/>
              </a:gs>
              <a:gs pos="37500">
                <a:srgbClr val="4472C4">
                  <a:alpha val="85000"/>
                </a:srgbClr>
              </a:gs>
              <a:gs pos="100000">
                <a:srgbClr val="70AD47"/>
              </a:gs>
            </a:gsLst>
            <a:lin ang="2250000" scaled="1"/>
          </a:gradFill>
          <a:ln w="1905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Authored linear gradient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Unicode and layout preservation</a:t>
            </a:r>
          </a:p>
        </p:txBody>
      </p:sp>
      <p:sp>
        <p:nvSpPr>
          <p:cNvPr id="3" name="VF_RT_UNICODE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"/>
              </a:rPr>
              <a:t>Hello, 世界! Καλημέρα κόσμε. مرحبا بالعالم.</a:t>
            </a:r>
          </a:p>
        </p:txBody>
      </p:sp>
      <p:sp>
        <p:nvSpPr>
          <p:cNvPr id="4" name="VF_RT_MARGINS"/>
          <p:cNvSpPr txBox="1"/>
          <p:nvPr/>
        </p:nvSpPr>
        <p:spPr>
          <a:xfrm>
            <a:off x="1005840" y="3108960"/>
            <a:ext cx="4754880" cy="1828800"/>
          </a:xfrm>
          <a:prstGeom prst="rect">
            <a:avLst/>
          </a:prstGeom>
          <a:noFill/>
        </p:spPr>
        <p:txBody>
          <a:bodyPr wrap="none" lIns="320040" rIns="182880" tIns="228600" bIns="137160" anchor="b">
            <a:spAutoFit/>
          </a:bodyPr>
          <a:lstStyle/>
          <a:p>
            <a:r>
              <a:rPr sz="1800">
                <a:latin typeface="Aptos"/>
              </a:rPr>
              <a:t>Bottom anchored with authored margins</a:t>
            </a:r>
          </a:p>
        </p:txBody>
      </p:sp>
      <p:cxnSp>
        <p:nvCxnSpPr>
          <p:cNvPr id="5" name="VF_RT_CONNECTOR"/>
          <p:cNvCxnSpPr/>
          <p:nvPr/>
        </p:nvCxnSpPr>
        <p:spPr>
          <a:xfrm>
            <a:off x="6537960" y="3749039"/>
            <a:ext cx="4160520" cy="1234441"/>
          </a:xfrm>
          <a:prstGeom prst="line">
            <a:avLst/>
          </a:prstGeom>
          <a:ln w="38100" cmpd="dbl" algn="ctr">
            <a:solidFill>
              <a:srgbClr val="4472C4"/>
            </a:solidFill>
            <a:headEnd type="diamond" w="sm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VF_RT_GRADIENT_CONNECTOR"/>
          <p:cNvCxnSpPr/>
          <p:nvPr/>
        </p:nvCxnSpPr>
        <p:spPr>
          <a:xfrm>
            <a:off x="6537960" y="5623560"/>
            <a:ext cx="4160520" cy="0"/>
          </a:xfrm>
          <a:prstGeom prst="line">
            <a:avLst/>
          </a:prstGeom>
          <a:ln w="635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70AD47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Path gradient and preset geometry preservation</a:t>
            </a:r>
          </a:p>
        </p:txBody>
      </p:sp>
      <p:sp>
        <p:nvSpPr>
          <p:cNvPr id="3" name="VF_RT_PATH_GRADIENT"/>
          <p:cNvSpPr/>
          <p:nvPr/>
        </p:nvSpPr>
        <p:spPr>
          <a:xfrm>
            <a:off x="822960" y="1417320"/>
            <a:ext cx="4846320" cy="42519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35000">
                <a:srgbClr val="5B9BD5">
                  <a:alpha val="90000"/>
                </a:srgbClr>
              </a:gs>
              <a:gs pos="100000">
                <a:srgbClr val="203864"/>
              </a:gs>
            </a:gsLst>
            <a:path path="circle">
              <a:fillToRect l="35000" t="25000" r="65000" b="75000"/>
            </a:path>
          </a:gradFill>
          <a:ln w="1905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Authored path gradient</a:t>
            </a:r>
          </a:p>
        </p:txBody>
      </p:sp>
      <p:sp>
        <p:nvSpPr>
          <p:cNvPr id="4" name="VF_RT_PRESET_GEOMETRY"/>
          <p:cNvSpPr/>
          <p:nvPr/>
        </p:nvSpPr>
        <p:spPr>
          <a:xfrm>
            <a:off x="6400800" y="2057400"/>
            <a:ext cx="4297680" cy="246888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3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Preset geometry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Pattern fill preservation</a:t>
            </a:r>
          </a:p>
        </p:txBody>
      </p:sp>
      <p:sp>
        <p:nvSpPr>
          <p:cNvPr id="3" name="VF_RT_PATTERN_FILL"/>
          <p:cNvSpPr/>
          <p:nvPr/>
        </p:nvSpPr>
        <p:spPr>
          <a:xfrm>
            <a:off x="1965960" y="1417320"/>
            <a:ext cx="8229600" cy="4434840"/>
          </a:xfrm>
          <a:prstGeom prst="rect">
            <a:avLst/>
          </a:prstGeom>
          <a:pattFill prst="diagCross">
            <a:fgClr>
              <a:srgbClr val="4472C4"/>
            </a:fgClr>
            <a:bgClr>
              <a:srgbClr val="D9EAF7"/>
            </a:bgClr>
          </a:patt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8242B"/>
                </a:solidFill>
                <a:latin typeface="Aptos"/>
              </a:rPr>
              <a:t>Authored direct RGB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Image fill preservation</a:t>
            </a:r>
          </a:p>
        </p:txBody>
      </p:sp>
      <p:sp>
        <p:nvSpPr>
          <p:cNvPr id="3" name="VF_RT_IMAGE_FILL"/>
          <p:cNvSpPr/>
          <p:nvPr/>
        </p:nvSpPr>
        <p:spPr>
          <a:xfrm>
            <a:off x="1965960" y="1417320"/>
            <a:ext cx="8229600" cy="4434840"/>
          </a:xfrm>
          <a:prstGeom prst="roundRect">
            <a:avLst/>
          </a:prstGeom>
          <a:blipFill rotWithShape="0">
            <a:blip r:embed="rId2"/>
            <a:srcRect l="12500" t="5000" r="8000" b="10000"/>
            <a:stretch>
              <a:fillRect/>
            </a:stretch>
          </a:blipFill>
          <a:ln w="2540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Baseline JPEG fill preservation</a:t>
            </a:r>
          </a:p>
        </p:txBody>
      </p:sp>
      <p:sp>
        <p:nvSpPr>
          <p:cNvPr id="3" name="VF_RT_JPEG_FILL"/>
          <p:cNvSpPr/>
          <p:nvPr/>
        </p:nvSpPr>
        <p:spPr>
          <a:xfrm>
            <a:off x="1965960" y="1417320"/>
            <a:ext cx="8229600" cy="4434840"/>
          </a:xfrm>
          <a:prstGeom prst="roundRect">
            <a:avLst/>
          </a:prstGeom>
          <a:blipFill rotWithShape="1">
            <a:blip r:embed="rId2"/>
            <a:srcRect l="6000" t="9000" r="14000" b="4000"/>
            <a:stretch>
              <a:fillRect/>
            </a:stretch>
          </a:blipFill>
          <a:ln w="25400">
            <a:solidFill>
              <a:srgbClr val="59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Tile and centered image framing</a:t>
            </a:r>
          </a:p>
        </p:txBody>
      </p:sp>
      <p:sp>
        <p:nvSpPr>
          <p:cNvPr id="3" name="VF_RT_IMAGE_TILE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blipFill rotWithShape="0">
            <a:blip r:embed="rId2"/>
            <a:tile tx="127000" ty="-63500" sx="45000" sy="65000" algn="br" flip="x"/>
          </a:blipFill>
          <a:ln w="38100">
            <a:solidFill>
              <a:srgbClr val="3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F_RT_IMAGE_CENTER"/>
          <p:cNvSpPr/>
          <p:nvPr/>
        </p:nvSpPr>
        <p:spPr>
          <a:xfrm>
            <a:off x="6199632" y="1417320"/>
            <a:ext cx="5303520" cy="4480560"/>
          </a:xfrm>
          <a:prstGeom prst="roundRect">
            <a:avLst/>
          </a:prstGeom>
          <a:blipFill rotWithShape="1">
            <a:blip r:embed="rId3"/>
            <a:tile sx="100000" sy="100000" algn="ctr" flip="none"/>
          </a:blipFill>
          <a:ln w="38100">
            <a:solidFill>
              <a:srgbClr val="59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shadeToTitle="0">
        <a:solidFill>
          <a:srgbClr val="D9EAF7"/>
        </a:solidFill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Direct solid slide background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shadeToTitle="0">
        <a:gradFill rotWithShape="0">
          <a:gsLst>
            <a:gs pos="0">
              <a:srgbClr val="FFF2CC"/>
            </a:gs>
            <a:gs pos="42500">
              <a:srgbClr val="5B9BD5">
                <a:alpha val="90000"/>
              </a:srgbClr>
            </a:gs>
            <a:gs pos="100000">
              <a:srgbClr val="203864"/>
            </a:gs>
          </a:gsLst>
          <a:lin ang="795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Direct linear-gradient slide background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shadeToTitle="0"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Stretched JPEG slide background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shadeToTitle="0">
        <a:blipFill>
          <a:blip r:embed="rId2"/>
          <a:tile tx="127000" ty="-63500" sx="40000" sy="55000" algn="tl" flip="none"/>
        </a:blipFill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Tiled PNG slide background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shadeToTitle="0">
        <a:blipFill>
          <a:blip r:embed="rId2"/>
          <a:tile sx="100000" sy="100000" algn="ctr" flip="none"/>
        </a:blipFill>
      </p:bgPr>
    </p:bg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Centered PNG slide background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Embedded picture source preservation</a:t>
            </a:r>
          </a:p>
        </p:txBody>
      </p:sp>
      <p:pic>
        <p:nvPicPr>
          <p:cNvPr id="3" name="VF_RT_PICTURE_EFFECT" descr="Source replacement preserves crop and blip effects"/>
          <p:cNvPicPr>
            <a:picLocks noChangeAspect="1"/>
          </p:cNvPicPr>
          <p:nvPr/>
        </p:nvPicPr>
        <p:blipFill dpi="150" rotWithShape="0">
          <a:blip r:embed="rId2" cstate="screen">
            <a:alphaModFix amt="85000"/>
            <a:lum bright="12000" contrast="-8000"/>
          </a:blip>
          <a:srcRect l="10000" t="5000" r="15000" b="12000"/>
          <a:stretch>
            <a:fillRect l="-5000" t="0" r="3000" b="0"/>
          </a:stretch>
        </p:blipFill>
        <p:spPr>
          <a:xfrm>
            <a:off x="6858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  <p:pic>
        <p:nvPicPr>
          <p:cNvPr id="4" name="VF_RT_PICTURE_SHARED" descr="Shared source remains unchanged when its peer is replaced"/>
          <p:cNvPicPr>
            <a:picLocks noChangeAspect="1"/>
          </p:cNvPicPr>
          <p:nvPr/>
        </p:nvPicPr>
        <p:blipFill rotWithShape="1">
          <a:blip r:embed="rId2">
            <a:grayscl/>
          </a:blip>
          <a:stretch>
            <a:fillRect/>
          </a:stretch>
        </p:blipFill>
        <p:spPr>
          <a:xfrm>
            <a:off x="43434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  <p:pic>
        <p:nvPicPr>
          <p:cNvPr id="5" name="VF_RT_PICTURE_JPEG" descr="Baseline JPEG picture source"/>
          <p:cNvPicPr>
            <a:picLocks noChangeAspect="1"/>
          </p:cNvPicPr>
          <p:nvPr/>
        </p:nvPicPr>
        <p:blipFill dpi="96">
          <a:blip r:embed="rId3"/>
          <a:stretch>
            <a:fillRect/>
          </a:stretch>
        </p:blipFill>
        <p:spPr>
          <a:xfrm>
            <a:off x="80010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VassilFlow PPTX native round-trip corpus</dc:title>
  <dc:subject>Interop fixture for bounded PPTX editing</dc:subject>
  <dc:creator>VassilFlow QA</dc:creator>
  <cp:keywords/>
  <dc:description>generated using python-pptx</dc:description>
  <cp:lastModifiedBy>VassilFlow QA</cp:lastModifiedBy>
  <cp:revision>1</cp:revision>
  <dcterms:created xsi:type="dcterms:W3CDTF">2026-07-14T00:00:00Z</dcterms:created>
  <dcterms:modified xsi:type="dcterms:W3CDTF">2026-07-14T00:00:00Z</dcterms:modified>
  <cp:category/>
</cp:coreProperties>
</file>
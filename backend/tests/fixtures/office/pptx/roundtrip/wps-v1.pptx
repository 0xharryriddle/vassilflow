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jpe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VF_RT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42B"/>
                </a:solidFill>
                <a:latin typeface="Aptos Display"/>
              </a:rPr>
              <a:t>Run and paragraph preservation</a:t>
            </a:r>
            <a:endParaRPr sz="2600" b="1">
              <a:solidFill>
                <a:srgbClr val="18242B"/>
              </a:solidFill>
              <a:latin typeface="Aptos Display"/>
            </a:endParaRPr>
          </a:p>
        </p:txBody>
      </p:sp>
      <p:sp>
        <p:nvSpPr>
          <p:cNvPr id="3" name="VF_RT_SPLIT_RUN"/>
          <p:cNvSpPr txBox="1"/>
          <p:nvPr/>
        </p:nvSpPr>
        <p:spPr>
          <a:xfrm>
            <a:off x="731520" y="1325880"/>
            <a:ext cx="52120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C02B3A"/>
                </a:solidFill>
                <a:latin typeface="Aptos"/>
              </a:rPr>
              <a:t>Alpha</a:t>
            </a:r>
            <a:r>
              <a:rPr sz="2000" i="1">
                <a:solidFill>
                  <a:srgbClr val="107C71"/>
                </a:solidFill>
                <a:latin typeface="Georgia" panose="02040502050405020303"/>
              </a:rPr>
              <a:t>Beta</a:t>
            </a:r>
            <a:endParaRPr sz="2000" i="1">
              <a:solidFill>
                <a:srgbClr val="107C71"/>
              </a:solidFill>
              <a:latin typeface="Georgia" panose="02040502050405020303"/>
            </a:endParaRPr>
          </a:p>
        </p:txBody>
      </p:sp>
      <p:sp>
        <p:nvSpPr>
          <p:cNvPr id="4" name="VF_RT_PARAGRAPHS"/>
          <p:cNvSpPr txBox="1"/>
          <p:nvPr/>
        </p:nvSpPr>
        <p:spPr>
          <a:xfrm>
            <a:off x="731520" y="2651760"/>
            <a:ext cx="5212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latin typeface="Aptos"/>
              </a:rPr>
              <a:t>Left paragraph</a:t>
            </a:r>
            <a:endParaRPr sz="1800">
              <a:latin typeface="Aptos"/>
            </a:endParaRPr>
          </a:p>
          <a:p>
            <a:pPr algn="ctr">
              <a:spcAft>
                <a:spcPts val="800"/>
              </a:spcAft>
            </a:pPr>
            <a:r>
              <a:rPr sz="2000">
                <a:latin typeface="Aptos"/>
              </a:rPr>
              <a:t>Centered paragraph</a:t>
            </a:r>
            <a:endParaRPr sz="2000">
              <a:latin typeface="Aptos"/>
            </a:endParaRPr>
          </a:p>
          <a:p>
            <a:pPr algn="r">
              <a:spcAft>
                <a:spcPts val="800"/>
              </a:spcAft>
            </a:pPr>
            <a:r>
              <a:rPr sz="1600">
                <a:latin typeface="Aptos"/>
              </a:rPr>
              <a:t>Right paragraph</a:t>
            </a:r>
            <a:endParaRPr sz="1600">
              <a:latin typeface="Aptos"/>
            </a:endParaRPr>
          </a:p>
        </p:txBody>
      </p:sp>
      <p:sp>
        <p:nvSpPr>
          <p:cNvPr id="5" name="VF_RT_EDIT_SENTINEL"/>
          <p:cNvSpPr txBox="1"/>
          <p:nvPr/>
        </p:nvSpPr>
        <p:spPr>
          <a:xfrm>
            <a:off x="6400800" y="1325880"/>
            <a:ext cx="475488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>
                <a:latin typeface="Aptos"/>
              </a:rPr>
              <a:t>Final native round-trip sentinel</a:t>
            </a:r>
            <a:endParaRPr sz="2200">
              <a:latin typeface="Aptos"/>
            </a:endParaRPr>
          </a:p>
        </p:txBody>
      </p:sp>
      <p:sp>
        <p:nvSpPr>
          <p:cNvPr id="6" name="VF_RT_STYLE"/>
          <p:cNvSpPr/>
          <p:nvPr/>
        </p:nvSpPr>
        <p:spPr>
          <a:xfrm>
            <a:off x="6400800" y="2743200"/>
            <a:ext cx="4114800" cy="1828800"/>
          </a:xfrm>
          <a:prstGeom prst="roundRect">
            <a:avLst/>
          </a:prstGeom>
          <a:solidFill>
            <a:srgbClr val="336699"/>
          </a:solidFill>
          <a:ln w="31750">
            <a:solidFill>
              <a:srgbClr val="E04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Direct fill and line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VF_RT_GRADIENT"/>
          <p:cNvSpPr/>
          <p:nvPr/>
        </p:nvSpPr>
        <p:spPr>
          <a:xfrm>
            <a:off x="6400800" y="4892040"/>
            <a:ext cx="4114800" cy="1143000"/>
          </a:xfrm>
          <a:prstGeom prst="roundRect">
            <a:avLst/>
          </a:prstGeom>
          <a:gradFill rotWithShape="1">
            <a:gsLst>
              <a:gs pos="0">
                <a:srgbClr val="203864"/>
              </a:gs>
              <a:gs pos="37500">
                <a:srgbClr val="4472C4">
                  <a:alpha val="85000"/>
                </a:srgbClr>
              </a:gs>
              <a:gs pos="100000">
                <a:srgbClr val="70AD47"/>
              </a:gs>
            </a:gsLst>
            <a:lin ang="2250000" scaled="1"/>
          </a:gradFill>
          <a:ln w="19050">
            <a:solidFill>
              <a:srgbClr val="18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Authored linear gradient</a:t>
            </a:r>
            <a:endParaRPr sz="1700" b="1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VF_RT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42B"/>
                </a:solidFill>
                <a:latin typeface="Aptos Display"/>
              </a:rPr>
              <a:t>Unicode and layout preservation</a:t>
            </a:r>
            <a:endParaRPr sz="2600" b="1">
              <a:solidFill>
                <a:srgbClr val="18242B"/>
              </a:solidFill>
              <a:latin typeface="Aptos Display"/>
            </a:endParaRPr>
          </a:p>
        </p:txBody>
      </p:sp>
      <p:sp>
        <p:nvSpPr>
          <p:cNvPr id="3" name="VF_RT_UNICODE"/>
          <p:cNvSpPr txBox="1"/>
          <p:nvPr/>
        </p:nvSpPr>
        <p:spPr>
          <a:xfrm>
            <a:off x="731520" y="14173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Noto Sans"/>
              </a:rPr>
              <a:t>Hello, 世界! Καλημέρα κόσμε. مرحبا بالعالم.</a:t>
            </a:r>
            <a:endParaRPr sz="2400">
              <a:latin typeface="Noto Sans"/>
            </a:endParaRPr>
          </a:p>
        </p:txBody>
      </p:sp>
      <p:sp>
        <p:nvSpPr>
          <p:cNvPr id="4" name="VF_RT_MARGINS"/>
          <p:cNvSpPr txBox="1"/>
          <p:nvPr/>
        </p:nvSpPr>
        <p:spPr>
          <a:xfrm>
            <a:off x="1005840" y="3108960"/>
            <a:ext cx="4754880" cy="1828800"/>
          </a:xfrm>
          <a:prstGeom prst="rect">
            <a:avLst/>
          </a:prstGeom>
          <a:noFill/>
        </p:spPr>
        <p:txBody>
          <a:bodyPr wrap="none" lIns="320040" tIns="228600" rIns="182880" bIns="137160" anchor="b">
            <a:spAutoFit/>
          </a:bodyPr>
          <a:lstStyle/>
          <a:p>
            <a:r>
              <a:rPr sz="1800">
                <a:latin typeface="Aptos"/>
              </a:rPr>
              <a:t>Bottom anchored with authored margins</a:t>
            </a:r>
            <a:endParaRPr sz="1800">
              <a:latin typeface="Aptos"/>
            </a:endParaRPr>
          </a:p>
        </p:txBody>
      </p:sp>
      <p:cxnSp>
        <p:nvCxnSpPr>
          <p:cNvPr id="5" name="VF_RT_CONNECTOR"/>
          <p:cNvCxnSpPr/>
          <p:nvPr/>
        </p:nvCxnSpPr>
        <p:spPr>
          <a:xfrm>
            <a:off x="6537960" y="3749039"/>
            <a:ext cx="4160520" cy="1234441"/>
          </a:xfrm>
          <a:prstGeom prst="line">
            <a:avLst/>
          </a:prstGeom>
          <a:ln w="38100" cmpd="dbl" algn="ctr">
            <a:solidFill>
              <a:srgbClr val="4472C4"/>
            </a:solidFill>
            <a:headEnd type="diamond" w="sm" len="me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VF_RT_GRADIENT_CONNECTOR"/>
          <p:cNvCxnSpPr/>
          <p:nvPr/>
        </p:nvCxnSpPr>
        <p:spPr>
          <a:xfrm>
            <a:off x="6537960" y="5623560"/>
            <a:ext cx="4160520" cy="0"/>
          </a:xfrm>
          <a:prstGeom prst="line">
            <a:avLst/>
          </a:prstGeom>
          <a:ln w="63500">
            <a:gradFill rotWithShape="1">
              <a:gsLst>
                <a:gs pos="0">
                  <a:srgbClr val="C00000"/>
                </a:gs>
                <a:gs pos="50000">
                  <a:srgbClr val="FFC000"/>
                </a:gs>
                <a:gs pos="100000">
                  <a:srgbClr val="70AD47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VF_RT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42B"/>
                </a:solidFill>
                <a:latin typeface="Aptos Display"/>
              </a:rPr>
              <a:t>Path gradient and preset geometry preservation</a:t>
            </a:r>
            <a:endParaRPr sz="2600" b="1">
              <a:solidFill>
                <a:srgbClr val="18242B"/>
              </a:solidFill>
              <a:latin typeface="Aptos Display"/>
            </a:endParaRPr>
          </a:p>
        </p:txBody>
      </p:sp>
      <p:sp>
        <p:nvSpPr>
          <p:cNvPr id="3" name="VF_RT_PATH_GRADIENT"/>
          <p:cNvSpPr/>
          <p:nvPr/>
        </p:nvSpPr>
        <p:spPr>
          <a:xfrm>
            <a:off x="822960" y="1417320"/>
            <a:ext cx="4846320" cy="425196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35000">
                <a:srgbClr val="5B9BD5">
                  <a:alpha val="90000"/>
                </a:srgbClr>
              </a:gs>
              <a:gs pos="100000">
                <a:srgbClr val="203864"/>
              </a:gs>
            </a:gsLst>
            <a:path path="circle">
              <a:fillToRect l="35000" t="25000" r="65000" b="75000"/>
            </a:path>
          </a:gradFill>
          <a:ln w="19050">
            <a:solidFill>
              <a:srgbClr val="18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Authored path gradient</a:t>
            </a:r>
            <a:endParaRPr sz="2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VF_RT_PRESET_GEOMETRY"/>
          <p:cNvSpPr/>
          <p:nvPr/>
        </p:nvSpPr>
        <p:spPr>
          <a:xfrm>
            <a:off x="6400800" y="2057400"/>
            <a:ext cx="4297680" cy="2468880"/>
          </a:xfrm>
          <a:prstGeom prst="roundRect">
            <a:avLst/>
          </a:prstGeom>
          <a:solidFill>
            <a:srgbClr val="70AD47"/>
          </a:solidFill>
          <a:ln w="25400">
            <a:solidFill>
              <a:srgbClr val="385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Preset geometry</a:t>
            </a:r>
            <a:endParaRPr sz="2000" b="1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VF_RT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42B"/>
                </a:solidFill>
                <a:latin typeface="Aptos Display"/>
              </a:rPr>
              <a:t>Pattern fill preservation</a:t>
            </a:r>
            <a:endParaRPr sz="2600" b="1">
              <a:solidFill>
                <a:srgbClr val="18242B"/>
              </a:solidFill>
              <a:latin typeface="Aptos Display"/>
            </a:endParaRPr>
          </a:p>
        </p:txBody>
      </p:sp>
      <p:sp>
        <p:nvSpPr>
          <p:cNvPr id="3" name="VF_RT_PATTERN_FILL"/>
          <p:cNvSpPr/>
          <p:nvPr/>
        </p:nvSpPr>
        <p:spPr>
          <a:xfrm>
            <a:off x="1965960" y="1417320"/>
            <a:ext cx="8229600" cy="4434840"/>
          </a:xfrm>
          <a:prstGeom prst="rect">
            <a:avLst/>
          </a:prstGeom>
          <a:pattFill prst="diagCross">
            <a:fgClr>
              <a:srgbClr val="4472C4"/>
            </a:fgClr>
            <a:bgClr>
              <a:srgbClr val="D9EAF7"/>
            </a:bgClr>
          </a:pattFill>
          <a:ln w="254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8242B"/>
                </a:solidFill>
                <a:latin typeface="Aptos"/>
              </a:rPr>
              <a:t>Authored direct RGB pattern</a:t>
            </a:r>
            <a:endParaRPr sz="2400" b="1">
              <a:solidFill>
                <a:srgbClr val="18242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VF_RT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42B"/>
                </a:solidFill>
                <a:latin typeface="Aptos Display"/>
              </a:rPr>
              <a:t>Image fill preservation</a:t>
            </a:r>
            <a:endParaRPr sz="2600" b="1">
              <a:solidFill>
                <a:srgbClr val="18242B"/>
              </a:solidFill>
              <a:latin typeface="Aptos Display"/>
            </a:endParaRPr>
          </a:p>
        </p:txBody>
      </p:sp>
      <p:sp>
        <p:nvSpPr>
          <p:cNvPr id="3" name="VF_RT_IMAGE_FILL"/>
          <p:cNvSpPr/>
          <p:nvPr/>
        </p:nvSpPr>
        <p:spPr>
          <a:xfrm>
            <a:off x="1965960" y="1417320"/>
            <a:ext cx="8229600" cy="4434840"/>
          </a:xfrm>
          <a:prstGeom prst="roundRect">
            <a:avLst/>
          </a:prstGeom>
          <a:blipFill rotWithShape="0">
            <a:blip r:embed="rId1"/>
            <a:srcRect l="12500" t="5000" r="8000" b="10000"/>
            <a:stretch>
              <a:fillRect/>
            </a:stretch>
          </a:blipFill>
          <a:ln w="25400">
            <a:solidFill>
              <a:srgbClr val="18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VF_RT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42B"/>
                </a:solidFill>
                <a:latin typeface="Aptos Display"/>
              </a:rPr>
              <a:t>Baseline JPEG fill preservation</a:t>
            </a:r>
            <a:endParaRPr sz="2600" b="1">
              <a:solidFill>
                <a:srgbClr val="18242B"/>
              </a:solidFill>
              <a:latin typeface="Aptos Display"/>
            </a:endParaRPr>
          </a:p>
        </p:txBody>
      </p:sp>
      <p:sp>
        <p:nvSpPr>
          <p:cNvPr id="3" name="VF_RT_JPEG_FILL"/>
          <p:cNvSpPr/>
          <p:nvPr/>
        </p:nvSpPr>
        <p:spPr>
          <a:xfrm>
            <a:off x="1965960" y="1417320"/>
            <a:ext cx="8229600" cy="4434840"/>
          </a:xfrm>
          <a:prstGeom prst="roundRect">
            <a:avLst/>
          </a:prstGeom>
          <a:blipFill rotWithShape="1">
            <a:blip r:embed="rId1"/>
            <a:srcRect l="6000" t="9000" r="14000" b="4000"/>
            <a:stretch>
              <a:fillRect/>
            </a:stretch>
          </a:blipFill>
          <a:ln w="25400">
            <a:solidFill>
              <a:srgbClr val="595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VF_RT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42B"/>
                </a:solidFill>
                <a:latin typeface="Aptos Display"/>
              </a:rPr>
              <a:t>Tile and centered image framing</a:t>
            </a:r>
            <a:endParaRPr sz="2600" b="1">
              <a:solidFill>
                <a:srgbClr val="18242B"/>
              </a:solidFill>
              <a:latin typeface="Aptos Display"/>
            </a:endParaRPr>
          </a:p>
        </p:txBody>
      </p:sp>
      <p:sp>
        <p:nvSpPr>
          <p:cNvPr id="3" name="VF_RT_IMAGE_TILE"/>
          <p:cNvSpPr/>
          <p:nvPr/>
        </p:nvSpPr>
        <p:spPr>
          <a:xfrm>
            <a:off x="685800" y="1417320"/>
            <a:ext cx="5303520" cy="4480560"/>
          </a:xfrm>
          <a:prstGeom prst="roundRect">
            <a:avLst/>
          </a:prstGeom>
          <a:blipFill rotWithShape="0">
            <a:blip r:embed="rId1"/>
            <a:tile tx="127000" ty="-63500" sx="45000" sy="65000" flip="x" algn="br"/>
          </a:blipFill>
          <a:ln w="38100">
            <a:solidFill>
              <a:srgbClr val="385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VF_RT_IMAGE_CENTER"/>
          <p:cNvSpPr/>
          <p:nvPr/>
        </p:nvSpPr>
        <p:spPr>
          <a:xfrm>
            <a:off x="6199632" y="1417320"/>
            <a:ext cx="5303520" cy="4480560"/>
          </a:xfrm>
          <a:prstGeom prst="roundRect">
            <a:avLst/>
          </a:prstGeom>
          <a:blipFill rotWithShape="1">
            <a:blip r:embed="rId2"/>
            <a:tile sx="100000" sy="100000" flip="none" algn="ctr"/>
          </a:blipFill>
          <a:ln w="38100">
            <a:solidFill>
              <a:srgbClr val="595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E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VF_RT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42B"/>
                </a:solidFill>
                <a:latin typeface="Aptos Display"/>
              </a:rPr>
              <a:t>Direct solid slide background</a:t>
            </a:r>
            <a:endParaRPr sz="2600" b="1">
              <a:solidFill>
                <a:srgbClr val="18242B"/>
              </a:solidFill>
              <a:latin typeface="Aptos Displ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2CC"/>
            </a:gs>
            <a:gs pos="42500">
              <a:srgbClr val="5B9BD5">
                <a:alpha val="90000"/>
              </a:srgbClr>
            </a:gs>
            <a:gs pos="100000">
              <a:srgbClr val="203864"/>
            </a:gs>
          </a:gsLst>
          <a:lin ang="795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VF_RT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42B"/>
                </a:solidFill>
                <a:latin typeface="Aptos Display"/>
              </a:rPr>
              <a:t>Direct linear-gradient slide background</a:t>
            </a:r>
            <a:endParaRPr sz="2600" b="1">
              <a:solidFill>
                <a:srgbClr val="18242B"/>
              </a:solidFill>
              <a:latin typeface="Aptos Displ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VF_RT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42B"/>
                </a:solidFill>
                <a:latin typeface="Aptos Display"/>
              </a:rPr>
              <a:t>Stretched JPEG slide background</a:t>
            </a:r>
            <a:endParaRPr sz="2600" b="1">
              <a:solidFill>
                <a:srgbClr val="18242B"/>
              </a:solidFill>
              <a:latin typeface="Aptos Displ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tile tx="127000" ty="-63500" sx="40000" sy="55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VF_RT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42B"/>
                </a:solidFill>
                <a:latin typeface="Aptos Display"/>
              </a:rPr>
              <a:t>Tiled PNG slide background</a:t>
            </a:r>
            <a:endParaRPr sz="2600" b="1">
              <a:solidFill>
                <a:srgbClr val="18242B"/>
              </a:solidFill>
              <a:latin typeface="Aptos Displ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tile sx="100000" sy="100000" flip="none" algn="ctr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VF_RT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42B"/>
                </a:solidFill>
                <a:latin typeface="Aptos Display"/>
              </a:rPr>
              <a:t>Centered PNG slide background</a:t>
            </a:r>
            <a:endParaRPr sz="2600" b="1">
              <a:solidFill>
                <a:srgbClr val="18242B"/>
              </a:solidFill>
              <a:latin typeface="Aptos Displa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VF_RT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42B"/>
                </a:solidFill>
                <a:latin typeface="Aptos Display"/>
              </a:rPr>
              <a:t>Embedded picture source preservation</a:t>
            </a:r>
            <a:endParaRPr sz="2600" b="1">
              <a:solidFill>
                <a:srgbClr val="18242B"/>
              </a:solidFill>
              <a:latin typeface="Aptos Display"/>
            </a:endParaRPr>
          </a:p>
        </p:txBody>
      </p:sp>
      <p:pic>
        <p:nvPicPr>
          <p:cNvPr id="3" name="VF_RT_PICTURE_EFFECT" descr="Source replacement preserves crop and blip effects"/>
          <p:cNvPicPr>
            <a:picLocks noChangeAspect="1"/>
          </p:cNvPicPr>
          <p:nvPr/>
        </p:nvPicPr>
        <p:blipFill rotWithShape="0">
          <a:blip r:embed="rId1" cstate="screen">
            <a:alphaModFix amt="85000"/>
            <a:lum bright="12000" contrast="-8000"/>
          </a:blip>
          <a:srcRect l="10000" t="5000" r="15000" b="12000"/>
          <a:stretch>
            <a:fillRect l="-5000" r="3000"/>
          </a:stretch>
        </p:blipFill>
        <p:spPr>
          <a:xfrm>
            <a:off x="685800" y="1371600"/>
            <a:ext cx="3429000" cy="4191000"/>
          </a:xfrm>
          <a:prstGeom prst="rect">
            <a:avLst/>
          </a:prstGeom>
          <a:ln w="19050">
            <a:solidFill>
              <a:srgbClr val="18242B"/>
            </a:solidFill>
          </a:ln>
        </p:spPr>
      </p:pic>
      <p:pic>
        <p:nvPicPr>
          <p:cNvPr id="4" name="VF_RT_PICTURE_SHARED" descr="Shared source remains unchanged when its peer is replaced"/>
          <p:cNvPicPr>
            <a:picLocks noChangeAspect="1"/>
          </p:cNvPicPr>
          <p:nvPr/>
        </p:nvPicPr>
        <p:blipFill rotWithShape="1">
          <a:blip r:embed="rId1">
            <a:grayscl/>
          </a:blip>
          <a:stretch>
            <a:fillRect/>
          </a:stretch>
        </p:blipFill>
        <p:spPr>
          <a:xfrm>
            <a:off x="4343400" y="1371600"/>
            <a:ext cx="3429000" cy="4191000"/>
          </a:xfrm>
          <a:prstGeom prst="rect">
            <a:avLst/>
          </a:prstGeom>
          <a:ln w="19050">
            <a:solidFill>
              <a:srgbClr val="18242B"/>
            </a:solidFill>
          </a:ln>
        </p:spPr>
      </p:pic>
      <p:pic>
        <p:nvPicPr>
          <p:cNvPr id="5" name="VF_RT_PICTURE_JPEG" descr="Baseline JPEG picture sour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3429000" cy="4191000"/>
          </a:xfrm>
          <a:prstGeom prst="rect">
            <a:avLst/>
          </a:prstGeom>
          <a:ln w="19050">
            <a:solidFill>
              <a:srgbClr val="18242B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681</Words>
  <Application>WPS Presentation</Application>
  <PresentationFormat>On-screen Show (4:3)</PresentationFormat>
  <Paragraphs>48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SimSun</vt:lpstr>
      <vt:lpstr>Wingdings</vt:lpstr>
      <vt:lpstr>Arial</vt:lpstr>
      <vt:lpstr>Aptos Display</vt:lpstr>
      <vt:lpstr>Segoe UI Variable Display</vt:lpstr>
      <vt:lpstr>Aptos</vt:lpstr>
      <vt:lpstr>Georgia</vt:lpstr>
      <vt:lpstr>Noto Sans</vt:lpstr>
      <vt:lpstr>Segoe UI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VassilFlow PPTX native round-trip corpus</dc:title>
  <dc:creator>VassilFlow QA</dc:creator>
  <dc:description>generated using python-pptx</dc:description>
  <dc:subject>Interop fixture for bounded PPTX editing</dc:subject>
  <cp:lastModifiedBy>Administrator</cp:lastModifiedBy>
  <cp:revision>2</cp:revision>
  <dcterms:created xsi:type="dcterms:W3CDTF">2026-07-14T00:00:00Z</dcterms:created>
  <dcterms:modified xsi:type="dcterms:W3CDTF">2026-07-15T09:47:36Z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DB060D7B08A14B5B8AEDD17062BC1CB6_13</vt:lpwstr>
  </property>
  <property fmtid="{D5CDD505-2E9C-101B-9397-08002B2CF9AE}" pid="3" name="KSOProductBuildVer">
    <vt:lpwstr>1033-12.1.0.26886</vt:lpwstr>
  </property>
</Properties>
</file>